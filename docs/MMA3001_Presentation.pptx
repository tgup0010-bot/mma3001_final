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7"/>
    <p:sldId id="258" r:id="rId9"/>
    <p:sldId id="267" r:id="rId18"/>
    <p:sldId id="259" r:id="rId10"/>
    <p:sldId id="260" r:id="rId11"/>
    <p:sldId id="261" r:id="rId12"/>
    <p:sldId id="262" r:id="rId13"/>
    <p:sldId id="268" r:id="rId19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3.xml"/><Relationship Id="rId18" Type="http://schemas.openxmlformats.org/officeDocument/2006/relationships/slide" Target="slides/slide5.xml"/><Relationship Id="rId19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C8FF"/>
                </a:solidFill>
              </a:rPr>
              <a:t>MMA3001  ·  Individual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Predicting Indoor CO2
Concentration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204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CDDFF"/>
                </a:solidFill>
              </a:rPr>
              <a:t>Using recent sensor history and building occupancy
to give a 15-minute early warning for ventilation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Tanmay Gupta  ·  Monash University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80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DEEFF"/>
                </a:solidFill>
              </a:rPr>
              <a:t>Dataset 2: Monash Smart Infrastructure  ·  Week 5 Regression  ·  Week 6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Why predict CO2 at all?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5743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Most building systems only react AFTER CO2 is already too high.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06040"/>
            <a:ext cx="5394960" cy="246888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54864" cy="24688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What we're doing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Predict CO2 level 15 minutes from now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Use the last hour of sensor readings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Include how many people are in the building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Give ventilation a head start before air goes bad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606040"/>
            <a:ext cx="5788152" cy="246888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606040"/>
            <a:ext cx="54864" cy="246888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69748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Why it matters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CO2 above ~800 ppm makes people less alert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Proactive ventilation = better air + less energy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15 min is enough time for a building system to act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Regression task — predicting a number, not a category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257800"/>
            <a:ext cx="11457432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3309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All four Week 5 regression methods were compared on real data — no single method was assumed to be best.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Prediction Contract — 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85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D8F5"/>
                </a:solidFill>
              </a:rPr>
              <a:t>Defined before running any model  ·  Week 5.6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651760" cy="41148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MAE ≤ 10 ppm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</a:rPr>
              <a:t>Below typical reading-to-reading variation.
Useful as a ventilation trend signal.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143000"/>
            <a:ext cx="2651760" cy="41148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1704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R² ≥ 0.25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6002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</a:rPr>
              <a:t>Explains at least a quarter of variance.
Captures real structure, not just the mean.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2651760" cy="41148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1704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No data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0020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2514E"/>
                </a:solidFill>
              </a:rPr>
              <a:t>Test set must be strictly in the future.
Time-ordered split required — not random.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514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2514E"/>
                </a:solidFill>
              </a:rPr>
              <a:t>Key risk: Occupancy data only helps if the sensor is in a monitored room.
Whether it does is answered by the zone-matching analysis — not assumed.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00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0B0B"/>
                </a:solidFill>
              </a:rPr>
              <a:t>Outcome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54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AF7A"/>
                </a:solidFill>
              </a:rPr>
              <a:t>✓  MAE met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54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AF7A"/>
                </a:solidFill>
              </a:rPr>
              <a:t>✓  R² met (3/4 models)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154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AF7A"/>
                </a:solidFill>
              </a:rPr>
              <a:t>✓  No 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154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4948"/>
                </a:solidFill>
              </a:rPr>
              <a:t>✗  Decision Tree R² = 0.19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— Inputs and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What goes in, what comes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920240" cy="8686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444752"/>
            <a:ext cx="1828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Current CO2
(ppm)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8568" y="16276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417320"/>
            <a:ext cx="1920240" cy="8686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444752"/>
            <a:ext cx="1828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CO2
15 min 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16276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417320"/>
            <a:ext cx="1920240" cy="8686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444752"/>
            <a:ext cx="1828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1-hr rolling
average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16276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417320"/>
            <a:ext cx="1920240" cy="8686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1444752"/>
            <a:ext cx="1828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Occupancy
count (0–5)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16276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417320"/>
            <a:ext cx="1920240" cy="8686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444752"/>
            <a:ext cx="1828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Time of day
&amp; day of 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48288" y="162763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2B5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50040" y="1325880"/>
            <a:ext cx="2240280" cy="10515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0" y="1371600"/>
            <a:ext cx="2103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C107"/>
                </a:solidFill>
              </a:rPr>
              <a:t>CO2 in
15 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4871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Source: MMA3001 Dataset 2 — Monash Smart Infrastructure. 5 occupancy zones, 5 environmental sensors.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926080"/>
            <a:ext cx="5486400" cy="274320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54864" cy="2743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999232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A1A1A"/>
                </a:solidFill>
              </a:rPr>
              <a:t>Sensor chosen: 6012002000326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• Longest record of real readings (Sep 2025 – Apr 2026)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• Validated against Bureau of Meteorology: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 Temperature: r = +0.84 over 222 days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 Humidity: r = +0.65 over 222 days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• Strong evidence it's actually measuring something real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926080"/>
            <a:ext cx="5696712" cy="274320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2926080"/>
            <a:ext cx="54864" cy="274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2999232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A1A1A"/>
                </a:solidFill>
              </a:rPr>
              <a:t>Why the other 4 sensors weren't the main sensor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• 3 sensors: only ever re-send one stale packet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 (same time, same value) → no real readings at all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• Sensor 0869: only 3.5 months of real data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• Its usable intervals are tested on slide 10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1A1A"/>
                </a:solidFill>
              </a:rPr>
              <a:t>  • None of this was documented in the dataset description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40784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779" y="121889"/>
            <a:ext cx="11579504" cy="1097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50" b="1">
                <a:solidFill>
                  <a:srgbClr val="FFFFFF"/>
                </a:solidFill>
              </a:rPr>
              <a:t>Sensor Matching — Can We Link Sensor to a Room?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779" y="914171"/>
            <a:ext cx="11579504" cy="426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>
                <a:solidFill>
                  <a:srgbClr val="C0D8F5"/>
                </a:solidFill>
              </a:rPr>
              <a:t>Keenan's suggestion: look for the link in the data  ·  lagged correlation  ·  5 zones × 5 sensors  ·  CO2, temperature, humidity</a:t>
            </a:r>
          </a:p>
        </p:txBody>
      </p:sp>
      <p:pic>
        <p:nvPicPr>
          <p:cNvPr id="5" name="Picture 4" descr="chart10_zone_match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79" y="1401729"/>
            <a:ext cx="9108089" cy="402235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873051" y="1401729"/>
            <a:ext cx="2133066" cy="1828342"/>
          </a:xfrm>
          <a:prstGeom prst="rect">
            <a:avLst/>
          </a:prstGeom>
          <a:solidFill>
            <a:srgbClr val="F9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33995" y="1438296"/>
            <a:ext cx="2011177" cy="365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0B0B"/>
                </a:solidFill>
              </a:rPr>
              <a:t>Method: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3995" y="1803964"/>
            <a:ext cx="2011177" cy="134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2514E"/>
                </a:solidFill>
              </a:rPr>
              <a:t>1. Resample zones and sensors to 15 min</a:t>
            </a:r>
            <a:br/>
            <a:r>
              <a:rPr sz="1150" b="0">
                <a:solidFill>
                  <a:srgbClr val="52514E"/>
                </a:solidFill>
              </a:rPr>
              <a:t>2. Use change per bin, not level</a:t>
            </a:r>
            <a:br/>
            <a:r>
              <a:rPr sz="1150" b="0">
                <a:solidFill>
                  <a:srgbClr val="52514E"/>
                </a:solidFill>
              </a:rPr>
              <a:t>3. Correlate with occupancy at lags up to ±1 h</a:t>
            </a:r>
            <a:br/>
            <a:r>
              <a:rPr sz="1150" b="0">
                <a:solidFill>
                  <a:srgbClr val="52514E"/>
                </a:solidFill>
              </a:rPr>
              <a:t>4. Keep strongest |r| per pair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3779" y="5545973"/>
            <a:ext cx="11579504" cy="914171"/>
          </a:xfrm>
          <a:prstGeom prst="rect">
            <a:avLst/>
          </a:prstGeom>
          <a:solidFill>
            <a:srgbClr val="FE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668" y="5606917"/>
            <a:ext cx="11213835" cy="792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E34948"/>
                </a:solidFill>
              </a:rPr>
              <a:t>✗  CO2: |r| ≤ 0.03 for sensor 0326 against every zone (≤ 0.06 for any sensor)  ·  Temperature up to r = 0.27, but it rises 45–60 min before occupancy → building-wide HVAC, not a shared room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Methods — 4 Regression Models (Week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All four compared — none assumed to be best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Each model runs through the same StandardScaler step so the comparison is fair. Same training data, same test split.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743200" cy="50292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Linear 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2743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Fits a straight line through the data.
Simplest, most interpretable. Good baseline.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920240"/>
            <a:ext cx="2743200" cy="502920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Decision Tree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423160"/>
            <a:ext cx="2743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Splits into if/else regions (max depth 8).
Can catch combos like 'busy + afternoon'
that a line misses.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2743200" cy="5029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SVR (RBF kernel)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423160"/>
            <a:ext cx="2743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51460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Fits a smooth curve, ignores small errors.
C=10, ε=0.5. Good for mild nonlinearity
on a dataset this size.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1920240"/>
            <a:ext cx="2743200" cy="502920"/>
          </a:xfrm>
          <a:prstGeom prst="rect">
            <a:avLst/>
          </a:prstGeom>
          <a:solidFill>
            <a:srgbClr val="D4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Neural Network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2423160"/>
            <a:ext cx="27432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51460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Two hidden layers (32 + 16 units).
Most flexible but also most likely
to overfit on limited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60720"/>
            <a:ext cx="11457432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833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B5C"/>
                </a:solidFill>
              </a:rPr>
              <a:t>💡  Occupancy was included as something to TEST — not assumed to be useful. Results in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Results — How Each Model Performed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Chronological split: train up to 11 Mar 2026, test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17,010 rows  ·  80% train / 20% test  ·  Split by time — no random shuffling (that would inflate results)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320040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874519"/>
            <a:ext cx="246888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MAE (ppm)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237744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RMSE (ppm)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874519"/>
            <a:ext cx="201168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0" y="1874519"/>
            <a:ext cx="1280160" cy="4572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1920240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31720"/>
            <a:ext cx="320040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048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Linear Regression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331720"/>
            <a:ext cx="246888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24048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9.012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31720"/>
            <a:ext cx="237744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2404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25.579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331720"/>
            <a:ext cx="201168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240487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0.358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89920" y="2331720"/>
            <a:ext cx="128016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0" y="2404872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843784"/>
            <a:ext cx="3200400" cy="50292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91693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Decision Tree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2843784"/>
            <a:ext cx="2468880" cy="50292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291693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</a:rPr>
              <a:t>9.353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843784"/>
            <a:ext cx="2377440" cy="50292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29169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</a:rPr>
              <a:t>28.708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2843784"/>
            <a:ext cx="2011680" cy="50292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291693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392B"/>
                </a:solidFill>
              </a:rPr>
              <a:t>0.191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789920" y="2843784"/>
            <a:ext cx="1280160" cy="50292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81360" y="2916936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⚠ worst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55848"/>
            <a:ext cx="3200400" cy="502920"/>
          </a:xfrm>
          <a:prstGeom prst="rect">
            <a:avLst/>
          </a:prstGeom>
          <a:solidFill>
            <a:srgbClr val="E8F8EE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</a:rPr>
              <a:t>SVR  ← Best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3355848"/>
            <a:ext cx="2468880" cy="502920"/>
          </a:xfrm>
          <a:prstGeom prst="rect">
            <a:avLst/>
          </a:prstGeom>
          <a:solidFill>
            <a:srgbClr val="E8F8EE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39" y="3429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</a:rPr>
              <a:t>8.350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355848"/>
            <a:ext cx="2377440" cy="502920"/>
          </a:xfrm>
          <a:prstGeom prst="rect">
            <a:avLst/>
          </a:prstGeom>
          <a:solidFill>
            <a:srgbClr val="E8F8EE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59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</a:rPr>
              <a:t>25.894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3355848"/>
            <a:ext cx="2011680" cy="502920"/>
          </a:xfrm>
          <a:prstGeom prst="rect">
            <a:avLst/>
          </a:prstGeom>
          <a:solidFill>
            <a:srgbClr val="E8F8EE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0" y="3429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A4A"/>
                </a:solidFill>
              </a:rPr>
              <a:t>0.342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89920" y="3355848"/>
            <a:ext cx="1280160" cy="502920"/>
          </a:xfrm>
          <a:prstGeom prst="rect">
            <a:avLst/>
          </a:prstGeom>
          <a:solidFill>
            <a:srgbClr val="E8F8EE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81360" y="3429000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</a:rPr>
              <a:t>✓ best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867912"/>
            <a:ext cx="320040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94106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Neural Network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0" y="3867912"/>
            <a:ext cx="246888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39" y="39410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9.350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867912"/>
            <a:ext cx="237744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59" y="39410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26.015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86800" y="3867912"/>
            <a:ext cx="201168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394106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0.336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789920" y="3867912"/>
            <a:ext cx="1280160" cy="50292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881360" y="3941064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526280"/>
            <a:ext cx="5303520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572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C107"/>
                </a:solidFill>
              </a:rPr>
              <a:t>8.35 ppm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166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average error — SVR (best model)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89320" y="4526280"/>
            <a:ext cx="5833872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72200" y="4572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C107"/>
                </a:solidFill>
              </a:rPr>
              <a:t>R² ≈ 0.34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200" y="5166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explains ~1/3 of variance — moderate result, reported honestly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555"/>
                </a:solidFill>
              </a:rPr>
              <a:t>Decision Tree was the worst — likely memorised the training period's patterns rather than learning something general.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 — Does Occupancy Actually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Tested with and without for every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38328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417320"/>
            <a:ext cx="265176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R² with occupancy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417320"/>
            <a:ext cx="246888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R² without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417320"/>
            <a:ext cx="2926080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463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28800"/>
            <a:ext cx="33832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11095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Linear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828800"/>
            <a:ext cx="265176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91109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0.3581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828800"/>
            <a:ext cx="24688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11095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0.3579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828800"/>
            <a:ext cx="29260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911095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No difference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304288"/>
            <a:ext cx="3383280" cy="45720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865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Decision Tree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2304288"/>
            <a:ext cx="2651760" cy="45720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2386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0.1914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304288"/>
            <a:ext cx="2468880" cy="45720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3865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0.3305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304288"/>
            <a:ext cx="2926080" cy="457200"/>
          </a:xfrm>
          <a:prstGeom prst="rect">
            <a:avLst/>
          </a:prstGeom>
          <a:solidFill>
            <a:srgbClr val="FFF0F0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23865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Gets WORSE 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779776"/>
            <a:ext cx="33832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862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SVR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2779776"/>
            <a:ext cx="265176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2862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0.3422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779776"/>
            <a:ext cx="24688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28620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0.3438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2779776"/>
            <a:ext cx="29260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28620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No real difference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55264"/>
            <a:ext cx="33832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337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Neural Network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3255264"/>
            <a:ext cx="265176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0" y="3337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0.3360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255264"/>
            <a:ext cx="24688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337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0.3352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255264"/>
            <a:ext cx="2926080" cy="457200"/>
          </a:xfrm>
          <a:prstGeom prst="rect">
            <a:avLst/>
          </a:prstGeom>
          <a:solidFill>
            <a:srgbClr val="F0F4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33375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No difference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840480"/>
            <a:ext cx="11457432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931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Occupancy does not improve predictions for any model. For Decision Tree it actively made things worse.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663440"/>
            <a:ext cx="11457432" cy="118872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736592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Why? The sensor has no documented room location.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It is not in the official Sensor ID spreadsheet — no way to know which occupancy zone to pair it with.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A separate correlation check across all 5 zones found max |r| ≤ 0.06 for CO2.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This is a finding — it was tested properly and reported honestly, not hidden.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Missing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What was found and how it was handled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94960" cy="256032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" cy="2560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The scale of the gaps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Longest gap in real readings: ~636 days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Readings are not evenly spaced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84,576 candidate rows in raw data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Only 17,010 (20%) had all required values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Rest were dropped — not filled with made-up numbers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417320"/>
            <a:ext cx="5742432" cy="256032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417320"/>
            <a:ext cx="54864" cy="25603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90472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How it was handled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Any row missing lag / rolling average / target → dropped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No interpolation across the 636-day gap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Integration step needed a separate fix (slide 11)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All of this is documented in the report, not hidden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60520"/>
            <a:ext cx="11457432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87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Other data quality issues found along the way: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572000"/>
            <a:ext cx="1145743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45152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Three sensors only ever re-send one stale packet (same timestamp, same value) — no real readings. Found by comparing each reading's own time with the server's receive time.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The occupancy log file was named "MayToDec2024" but actually covers November 2023 to April 2026. Only found by checking real timestamps.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Using Every Sensor's Usable Intervals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Teaching-team suggestion: use valid time intervals from all sensors, not one sensor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4297320"/>
            <a:ext cx="11457432" cy="4114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24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107"/>
                </a:solidFill>
              </a:rPr>
              <a:t>Every unbroken interval ≥ 75 min was used, from any sensor:  0326 → 17,317 rows  ·  0869 → 7,781 rows  ·  other 3 sensors → 0 (stale packets only)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08800"/>
            <a:ext cx="11457432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781952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Pooling 0326 + 0869 (+56% training data): SVR error 8.30 → 8.14 ppm, but not statistically significant for any model (bootstrap 95% CI spans zero).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Trained on the other room, every model is worse than 'CO2 stays the same'; trained on 0869's own data, SVR reaches 6.99 ppm → train one model per room.</a:t>
            </a:r>
          </a:p>
        </p:txBody>
      </p:sp>
      <p:pic>
        <p:nvPicPr>
          <p:cNvPr id="16" name="Picture 15" descr="chart16_multi_sensor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911" y="1325880"/>
            <a:ext cx="8139130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Numerical Integration —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Calculating total CO2 exposure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A sensor gives a snapshot at each moment — but you might want to know total exposure over a day (ppm·hours = area under the curve).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57432" cy="1371600"/>
          </a:xfrm>
          <a:prstGeom prst="rect">
            <a:avLst/>
          </a:prstGeom>
          <a:solidFill>
            <a:srgbClr val="FFF0F0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🐛  Bug found during the project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First version: resampled onto a 15-min grid, dropped missing bins, then integrated.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Problem: readings either side of the 636-day gap looked like they were 15 minutes apart.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Result: Simpson's gave ~1.1M ppm·h vs trapezoidal ~9.5M ppm·h. A 9× gap = something is clearly wrong.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337560"/>
            <a:ext cx="11457432" cy="1143000"/>
          </a:xfrm>
          <a:prstGeom prst="rect">
            <a:avLst/>
          </a:prstGeom>
          <a:solidFill>
            <a:srgbClr val="E8F8EE"/>
          </a:solidFill>
          <a:ln w="1524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1071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✅  Fix: gap-aware trapezoidal rule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Skips any panel where the two endpoints are more than 2 hours apart.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Naive estimate: 9,543,357 ppm·h  →  Gap-aware: 2,305,836 ppm·h  (4× difference from bridging alone)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617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Convergence check on a clean 41-hour gap-free window (1–3 Oct 2025):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029200"/>
            <a:ext cx="283464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50657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Bin size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5029200"/>
            <a:ext cx="292608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50657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Trapezoidal (ppm·h)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5029200"/>
            <a:ext cx="292608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50657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Simpson (ppm·h)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5029200"/>
            <a:ext cx="2834640" cy="347472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2" y="50657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Agreement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76672"/>
            <a:ext cx="28346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54498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15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5376672"/>
            <a:ext cx="29260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4992" y="54498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17,817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5376672"/>
            <a:ext cx="292608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54498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17,830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5376672"/>
            <a:ext cx="283464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4312" y="54498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4A"/>
                </a:solidFill>
              </a:rPr>
              <a:t>0.07%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779008"/>
            <a:ext cx="283464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30 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5779008"/>
            <a:ext cx="292608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64992" y="5852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18,020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779008"/>
            <a:ext cx="292608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5852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18,020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5779008"/>
            <a:ext cx="283464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54312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4A"/>
                </a:solidFill>
              </a:rPr>
              <a:t>0.001%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181344"/>
            <a:ext cx="283464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62544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60 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6181344"/>
            <a:ext cx="292608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64992" y="62544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17,584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6181344"/>
            <a:ext cx="292608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62544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</a:rPr>
              <a:t>17,572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6181344"/>
            <a:ext cx="2834640" cy="393192"/>
          </a:xfrm>
          <a:prstGeom prst="rect">
            <a:avLst/>
          </a:prstGeom>
          <a:solidFill>
            <a:srgbClr val="F5F8FF"/>
          </a:solidFill>
          <a:ln w="381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54312" y="62544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4A"/>
                </a:solidFill>
              </a:rPr>
              <a:t>0.07%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Limitations &amp; What We'd Do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Honest about what worked and what didn't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60527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27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Sensor has no room 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605272" cy="1783080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Not in the official spreadsheet. Impossible to know which occupancy zone it belongs to — so the occupancy feature was always going to be a stretch.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605272" cy="457200"/>
          </a:xfrm>
          <a:prstGeom prst="rect">
            <a:avLst/>
          </a:prstGeom>
          <a:solidFill>
            <a:srgbClr val="D4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27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R² ≈ 0.34 — only partial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5605272" cy="1783080"/>
          </a:xfrm>
          <a:prstGeom prst="rect">
            <a:avLst/>
          </a:prstGeom>
          <a:solidFill>
            <a:srgbClr val="FFFFFF"/>
          </a:solidFill>
          <a:ln w="15240">
            <a:solidFill>
              <a:srgbClr val="D4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The model captures about a third of what drives CO2. The rest is things we don't have data on: HVAC events, windows, doors, equipment.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5605272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858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Only 20% of rows usable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51960"/>
            <a:ext cx="5605272" cy="1783080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The 636-day gap means most of the raw data cannot form a valid training row. Adding a second sensor's usable intervals (+56% data) did not significantly help.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794760"/>
            <a:ext cx="5605272" cy="4572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858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Models don't transfer between rooms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251960"/>
            <a:ext cx="5605272" cy="1783080"/>
          </a:xfrm>
          <a:prstGeom prst="rect">
            <a:avLst/>
          </a:prstGeom>
          <a:solidFill>
            <a:srgbClr val="FFFFFF"/>
          </a:solidFill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34340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Trained on sensor 0326, every model did worse than 'CO2 stays the same' on sensor 0869. Each room needs its own training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806440"/>
            <a:ext cx="11457432" cy="64008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88873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2B5C"/>
                </a:solidFill>
              </a:rPr>
              <a:t>If sensor room location were documented → could pick the matching zone, likely improving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8FF"/>
                </a:solidFill>
              </a:rPr>
              <a:t>What was done, what was found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94960" cy="329184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" cy="329184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What was done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Predicted CO2 15 min ahead using 4 regression models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Chronological train/test split — no data leakage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Tested occupancy + usable intervals from all sensors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Applied Week 6 integration to calculate CO2 exposure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Found and fixed a real integration bug (gap bridging)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Validated sensor against Bureau of Meteorology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417320"/>
            <a:ext cx="5742432" cy="3291840"/>
          </a:xfrm>
          <a:prstGeom prst="rect">
            <a:avLst/>
          </a:prstGeom>
          <a:solidFill>
            <a:srgbClr val="E8F0F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417320"/>
            <a:ext cx="54864" cy="32918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90472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</a:rPr>
              <a:t>What was found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SVR best model: 8.35 ppm average error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R² ≈ 0.34 — moderate, reported honestly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Occupancy does NOT improve CO2 prediction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Models must be trained per room — they don't transfer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CO2 driven by ventilation, not individual room counts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A1A1A"/>
                </a:solidFill>
              </a:rPr>
              <a:t>  • 3 of 5 sensors have no real readings (stale packets)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846320"/>
            <a:ext cx="11457432" cy="9144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9194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</a:rPr>
              <a:t>Best model: SVR  ·  MAE = 8.35 ppm  ·  R² = 0.342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21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C8FF"/>
                </a:solidFill>
              </a:rPr>
              <a:t>github.com/tgup0010-bot/MMA3001_FINAL  ·  All numbers reproducible from the scripts; results in reports/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89788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Tanmay Gupta  ·  MMA3001  ·  Monash University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